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82" r:id="rId4"/>
    <p:sldId id="283" r:id="rId5"/>
    <p:sldId id="285" r:id="rId6"/>
    <p:sldId id="291" r:id="rId7"/>
    <p:sldId id="286" r:id="rId8"/>
    <p:sldId id="287" r:id="rId9"/>
    <p:sldId id="288" r:id="rId10"/>
    <p:sldId id="289" r:id="rId11"/>
    <p:sldId id="290" r:id="rId12"/>
    <p:sldId id="271" r:id="rId13"/>
    <p:sldId id="279" r:id="rId14"/>
    <p:sldId id="280" r:id="rId15"/>
    <p:sldId id="281" r:id="rId16"/>
    <p:sldId id="277" r:id="rId17"/>
    <p:sldId id="278" r:id="rId18"/>
  </p:sldIdLst>
  <p:sldSz cx="9144000" cy="6858000" type="screen4x3"/>
  <p:notesSz cx="6805613" cy="9939338"/>
  <p:embeddedFontLst>
    <p:embeddedFont>
      <p:font typeface="Cambria Math" panose="02040503050406030204" pitchFamily="18" charset="0"/>
      <p:regular r:id="rId21"/>
    </p:embeddedFont>
    <p:embeddedFont>
      <p:font typeface="나눔고딕" pitchFamily="2" charset="-127"/>
      <p:regular r:id="rId22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>
          <p15:clr>
            <a:srgbClr val="A4A3A4"/>
          </p15:clr>
        </p15:guide>
        <p15:guide id="2" orient="horz" pos="1164">
          <p15:clr>
            <a:srgbClr val="A4A3A4"/>
          </p15:clr>
        </p15:guide>
        <p15:guide id="3" orient="horz" pos="278">
          <p15:clr>
            <a:srgbClr val="A4A3A4"/>
          </p15:clr>
        </p15:guide>
        <p15:guide id="4" orient="horz" pos="848">
          <p15:clr>
            <a:srgbClr val="A4A3A4"/>
          </p15:clr>
        </p15:guide>
        <p15:guide id="5" orient="horz" pos="1348">
          <p15:clr>
            <a:srgbClr val="A4A3A4"/>
          </p15:clr>
        </p15:guide>
        <p15:guide id="6" orient="horz" pos="559">
          <p15:clr>
            <a:srgbClr val="A4A3A4"/>
          </p15:clr>
        </p15:guide>
        <p15:guide id="7" orient="horz" pos="3866">
          <p15:clr>
            <a:srgbClr val="A4A3A4"/>
          </p15:clr>
        </p15:guide>
        <p15:guide id="8" orient="horz" pos="1664">
          <p15:clr>
            <a:srgbClr val="A4A3A4"/>
          </p15:clr>
        </p15:guide>
        <p15:guide id="9" pos="2894">
          <p15:clr>
            <a:srgbClr val="A4A3A4"/>
          </p15:clr>
        </p15:guide>
        <p15:guide id="10" pos="5528">
          <p15:clr>
            <a:srgbClr val="A4A3A4"/>
          </p15:clr>
        </p15:guide>
        <p15:guide id="11" pos="230">
          <p15:clr>
            <a:srgbClr val="A4A3A4"/>
          </p15:clr>
        </p15:guide>
        <p15:guide id="12" pos="1562">
          <p15:clr>
            <a:srgbClr val="A4A3A4"/>
          </p15:clr>
        </p15:guide>
        <p15:guide id="13" pos="4226">
          <p15:clr>
            <a:srgbClr val="A4A3A4"/>
          </p15:clr>
        </p15:guide>
        <p15:guide id="14" pos="900">
          <p15:clr>
            <a:srgbClr val="A4A3A4"/>
          </p15:clr>
        </p15:guide>
        <p15:guide id="15" pos="4910">
          <p15:clr>
            <a:srgbClr val="A4A3A4"/>
          </p15:clr>
        </p15:guide>
        <p15:guide id="16" pos="123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14E"/>
    <a:srgbClr val="3D3C3E"/>
    <a:srgbClr val="063656"/>
    <a:srgbClr val="08456E"/>
    <a:srgbClr val="569CF0"/>
    <a:srgbClr val="8DBDF7"/>
    <a:srgbClr val="5DAAFF"/>
    <a:srgbClr val="47B0FF"/>
    <a:srgbClr val="E3EAF5"/>
    <a:srgbClr val="DDE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6" autoAdjust="0"/>
    <p:restoredTop sz="86364" autoAdjust="0"/>
  </p:normalViewPr>
  <p:slideViewPr>
    <p:cSldViewPr snapToGrid="0">
      <p:cViewPr varScale="1">
        <p:scale>
          <a:sx n="107" d="100"/>
          <a:sy n="107" d="100"/>
        </p:scale>
        <p:origin x="1722" y="114"/>
      </p:cViewPr>
      <p:guideLst>
        <p:guide orient="horz" pos="2166"/>
        <p:guide orient="horz" pos="1164"/>
        <p:guide orient="horz" pos="278"/>
        <p:guide orient="horz" pos="848"/>
        <p:guide orient="horz" pos="1348"/>
        <p:guide orient="horz" pos="559"/>
        <p:guide orient="horz" pos="3866"/>
        <p:guide orient="horz" pos="1664"/>
        <p:guide pos="2894"/>
        <p:guide pos="5528"/>
        <p:guide pos="230"/>
        <p:guide pos="1562"/>
        <p:guide pos="4226"/>
        <p:guide pos="900"/>
        <p:guide pos="4910"/>
        <p:guide pos="1233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howGuides="1">
      <p:cViewPr varScale="1">
        <p:scale>
          <a:sx n="52" d="100"/>
          <a:sy n="52" d="100"/>
        </p:scale>
        <p:origin x="-2628" y="-90"/>
      </p:cViewPr>
      <p:guideLst>
        <p:guide orient="horz" pos="3131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1.bin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2.bin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3.bin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4.bin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5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</a:ln>
          </c:spPr>
          <c:marker>
            <c:symbol val="circle"/>
            <c:size val="7"/>
            <c:spPr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27-476C-87DD-DD86C2FB96B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내용2</c:v>
                </c:pt>
              </c:strCache>
            </c:strRef>
          </c:tx>
          <c:spPr>
            <a:ln w="38100">
              <a:solidFill>
                <a:schemeClr val="tx2">
                  <a:lumMod val="90000"/>
                  <a:lumOff val="10000"/>
                </a:schemeClr>
              </a:solidFill>
            </a:ln>
          </c:spPr>
          <c:marker>
            <c:symbol val="circle"/>
            <c:size val="7"/>
            <c:spPr>
              <a:solidFill>
                <a:schemeClr val="tx2">
                  <a:lumMod val="90000"/>
                  <a:lumOff val="10000"/>
                </a:schemeClr>
              </a:solidFill>
              <a:ln w="19050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</a:ln>
            </c:spPr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27-476C-87DD-DD86C2FB96B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내용3</c:v>
                </c:pt>
              </c:strCache>
            </c:strRef>
          </c:tx>
          <c:spPr>
            <a:ln w="38100">
              <a:solidFill>
                <a:srgbClr val="0070C0"/>
              </a:solidFill>
            </a:ln>
          </c:spPr>
          <c:marker>
            <c:symbol val="circle"/>
            <c:size val="7"/>
            <c:spPr>
              <a:solidFill>
                <a:srgbClr val="0070C0"/>
              </a:solidFill>
              <a:ln>
                <a:solidFill>
                  <a:srgbClr val="0070C0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A27-476C-87DD-DD86C2FB96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8414848"/>
        <c:axId val="128417152"/>
      </c:lineChart>
      <c:catAx>
        <c:axId val="12841484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15875">
            <a:solidFill>
              <a:schemeClr val="tx1">
                <a:lumMod val="75000"/>
                <a:lumOff val="25000"/>
              </a:schemeClr>
            </a:solidFill>
          </a:ln>
        </c:spPr>
        <c:txPr>
          <a:bodyPr/>
          <a:lstStyle/>
          <a:p>
            <a:pPr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pPr>
            <a:endParaRPr lang="ko-KR"/>
          </a:p>
        </c:txPr>
        <c:crossAx val="128417152"/>
        <c:crosses val="autoZero"/>
        <c:auto val="1"/>
        <c:lblAlgn val="ctr"/>
        <c:lblOffset val="100"/>
        <c:noMultiLvlLbl val="0"/>
      </c:catAx>
      <c:valAx>
        <c:axId val="128417152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65000"/>
                </a:schemeClr>
              </a:solidFill>
            </a:ln>
          </c:spPr>
        </c:majorGridlines>
        <c:numFmt formatCode="General" sourceLinked="1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pPr>
            <a:endParaRPr lang="ko-KR"/>
          </a:p>
        </c:txPr>
        <c:crossAx val="128414848"/>
        <c:crosses val="autoZero"/>
        <c:crossBetween val="between"/>
      </c:valAx>
      <c:spPr>
        <a:ln>
          <a:noFill/>
        </a:ln>
      </c:spPr>
    </c:plotArea>
    <c:legend>
      <c:legendPos val="t"/>
      <c:legendEntry>
        <c:idx val="0"/>
        <c:txPr>
          <a:bodyPr/>
          <a:lstStyle/>
          <a:p>
            <a:pPr>
              <a:defRPr sz="800" b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pPr>
            <a:endParaRPr lang="ko-KR"/>
          </a:p>
        </c:txPr>
      </c:legendEntry>
      <c:legendEntry>
        <c:idx val="1"/>
        <c:txPr>
          <a:bodyPr/>
          <a:lstStyle/>
          <a:p>
            <a:pPr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pPr>
            <a:endParaRPr lang="ko-KR"/>
          </a:p>
        </c:txPr>
      </c:legendEntry>
      <c:legendEntry>
        <c:idx val="2"/>
        <c:txPr>
          <a:bodyPr/>
          <a:lstStyle/>
          <a:p>
            <a:pPr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pPr>
            <a:endParaRPr lang="ko-KR"/>
          </a:p>
        </c:txPr>
      </c:legendEntry>
      <c:layout>
        <c:manualLayout>
          <c:xMode val="edge"/>
          <c:yMode val="edge"/>
          <c:x val="0.59443901886364858"/>
          <c:y val="2.1596158119183351E-2"/>
          <c:w val="0.4051608225866643"/>
          <c:h val="5.4379161952527615E-2"/>
        </c:manualLayout>
      </c:layout>
      <c:overlay val="0"/>
      <c:txPr>
        <a:bodyPr/>
        <a:lstStyle/>
        <a:p>
          <a:pPr>
            <a:defRPr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defRPr>
          </a:pPr>
          <a:endParaRPr lang="ko-KR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590837733005513E-2"/>
          <c:y val="4.4023044503926356E-2"/>
          <c:w val="0.94382387464194795"/>
          <c:h val="0.830257917687936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gradFill flip="none" rotWithShape="1">
              <a:gsLst>
                <a:gs pos="0">
                  <a:srgbClr val="0070C0"/>
                </a:gs>
                <a:gs pos="100000">
                  <a:schemeClr val="accent4">
                    <a:lumMod val="75000"/>
                  </a:schemeClr>
                </a:gs>
              </a:gsLst>
              <a:lin ang="5400000" scaled="0"/>
              <a:tileRect/>
            </a:gradFill>
          </c:spPr>
          <c:invertIfNegative val="0"/>
          <c:cat>
            <c:strRef>
              <c:f>Sheet1!$A$2:$A$8</c:f>
              <c:strCache>
                <c:ptCount val="7"/>
                <c:pt idx="0">
                  <c:v>내용</c:v>
                </c:pt>
                <c:pt idx="1">
                  <c:v>내용</c:v>
                </c:pt>
                <c:pt idx="2">
                  <c:v>내용</c:v>
                </c:pt>
                <c:pt idx="3">
                  <c:v>내용</c:v>
                </c:pt>
                <c:pt idx="4">
                  <c:v>내용</c:v>
                </c:pt>
                <c:pt idx="5">
                  <c:v>내용</c:v>
                </c:pt>
                <c:pt idx="6">
                  <c:v>내용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4.3</c:v>
                </c:pt>
                <c:pt idx="5">
                  <c:v>2.5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7E-49CF-8FE7-5152BBDC4C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0"/>
        <c:axId val="127731200"/>
        <c:axId val="129550976"/>
      </c:barChart>
      <c:catAx>
        <c:axId val="12773120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pPr>
            <a:endParaRPr lang="ko-KR"/>
          </a:p>
        </c:txPr>
        <c:crossAx val="129550976"/>
        <c:crosses val="autoZero"/>
        <c:auto val="1"/>
        <c:lblAlgn val="ctr"/>
        <c:lblOffset val="100"/>
        <c:noMultiLvlLbl val="0"/>
      </c:catAx>
      <c:valAx>
        <c:axId val="129550976"/>
        <c:scaling>
          <c:orientation val="minMax"/>
        </c:scaling>
        <c:delete val="0"/>
        <c:axPos val="l"/>
        <c:majorGridlines>
          <c:spPr>
            <a:ln w="3175">
              <a:solidFill>
                <a:schemeClr val="bg1">
                  <a:lumMod val="6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pPr>
            <a:endParaRPr lang="ko-KR"/>
          </a:p>
        </c:txPr>
        <c:crossAx val="127731200"/>
        <c:crosses val="autoZero"/>
        <c:crossBetween val="between"/>
        <c:majorUnit val="1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22"/>
    </mc:Choice>
    <mc:Fallback>
      <c:style val="2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2114665354330707E-2"/>
          <c:y val="0.27050000000000002"/>
          <c:w val="0.86454164667283295"/>
          <c:h val="0.5400624999999995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내용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  <c:pt idx="4">
                  <c:v>7월</c:v>
                </c:pt>
                <c:pt idx="5">
                  <c:v>8월</c:v>
                </c:pt>
                <c:pt idx="6">
                  <c:v>내용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1.5</c:v>
                </c:pt>
                <c:pt idx="2">
                  <c:v>4.5</c:v>
                </c:pt>
                <c:pt idx="3">
                  <c:v>3.8</c:v>
                </c:pt>
                <c:pt idx="4">
                  <c:v>3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F3-4F49-8202-45DF2BBC6F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내용1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  <c:pt idx="4">
                  <c:v>7월</c:v>
                </c:pt>
                <c:pt idx="5">
                  <c:v>8월</c:v>
                </c:pt>
                <c:pt idx="6">
                  <c:v>내용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</c:v>
                </c:pt>
                <c:pt idx="1">
                  <c:v>4.5</c:v>
                </c:pt>
                <c:pt idx="2">
                  <c:v>3.2</c:v>
                </c:pt>
                <c:pt idx="3">
                  <c:v>3.8</c:v>
                </c:pt>
                <c:pt idx="4">
                  <c:v>3</c:v>
                </c:pt>
                <c:pt idx="5">
                  <c:v>2.5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F3-4F49-8202-45DF2BBC6F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내용2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3월</c:v>
                </c:pt>
                <c:pt idx="1">
                  <c:v>4월</c:v>
                </c:pt>
                <c:pt idx="2">
                  <c:v>5월</c:v>
                </c:pt>
                <c:pt idx="3">
                  <c:v>6월</c:v>
                </c:pt>
                <c:pt idx="4">
                  <c:v>7월</c:v>
                </c:pt>
                <c:pt idx="5">
                  <c:v>8월</c:v>
                </c:pt>
                <c:pt idx="6">
                  <c:v>내용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4.2</c:v>
                </c:pt>
                <c:pt idx="4">
                  <c:v>4.5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F3-4F49-8202-45DF2BBC6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668224"/>
        <c:axId val="135697152"/>
      </c:areaChart>
      <c:catAx>
        <c:axId val="129668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800">
                <a:latin typeface="나눔고딕" pitchFamily="50" charset="-127"/>
                <a:ea typeface="나눔고딕" pitchFamily="50" charset="-127"/>
              </a:defRPr>
            </a:pPr>
            <a:endParaRPr lang="ko-KR"/>
          </a:p>
        </c:txPr>
        <c:crossAx val="135697152"/>
        <c:crosses val="autoZero"/>
        <c:auto val="1"/>
        <c:lblAlgn val="ctr"/>
        <c:lblOffset val="100"/>
        <c:noMultiLvlLbl val="0"/>
      </c:catAx>
      <c:valAx>
        <c:axId val="135697152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65000"/>
                </a:schemeClr>
              </a:solidFill>
            </a:ln>
          </c:spPr>
        </c:majorGridlines>
        <c:numFmt formatCode="General" sourceLinked="1"/>
        <c:majorTickMark val="in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latin typeface="나눔고딕" pitchFamily="50" charset="-127"/>
                <a:ea typeface="나눔고딕" pitchFamily="50" charset="-127"/>
              </a:defRPr>
            </a:pPr>
            <a:endParaRPr lang="ko-KR"/>
          </a:p>
        </c:txPr>
        <c:crossAx val="129668224"/>
        <c:crosses val="autoZero"/>
        <c:crossBetween val="midCat"/>
        <c:majorUnit val="1"/>
      </c:valAx>
    </c:plotArea>
    <c:legend>
      <c:legendPos val="t"/>
      <c:layout>
        <c:manualLayout>
          <c:xMode val="edge"/>
          <c:yMode val="edge"/>
          <c:x val="0.77024536555422063"/>
          <c:y val="0.1986841021845919"/>
          <c:w val="0.17935625356048146"/>
          <c:h val="4.0993522087289444E-2"/>
        </c:manualLayout>
      </c:layout>
      <c:overlay val="0"/>
      <c:txPr>
        <a:bodyPr/>
        <a:lstStyle/>
        <a:p>
          <a:pPr>
            <a:defRPr sz="900">
              <a:latin typeface="나눔고딕" pitchFamily="50" charset="-127"/>
              <a:ea typeface="나눔고딕" pitchFamily="50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22"/>
    </mc:Choice>
    <mc:Fallback>
      <c:style val="2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내용</c:v>
                </c:pt>
                <c:pt idx="1">
                  <c:v>내용</c:v>
                </c:pt>
                <c:pt idx="2">
                  <c:v>내용</c:v>
                </c:pt>
                <c:pt idx="3">
                  <c:v>내용</c:v>
                </c:pt>
                <c:pt idx="4">
                  <c:v>내용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25</c:v>
                </c:pt>
                <c:pt idx="2">
                  <c:v>36</c:v>
                </c:pt>
                <c:pt idx="3">
                  <c:v>14</c:v>
                </c:pt>
                <c:pt idx="4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4B-44A0-9F56-F41D8FBDFF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legend>
      <c:legendPos val="b"/>
      <c:layout>
        <c:manualLayout>
          <c:xMode val="edge"/>
          <c:yMode val="edge"/>
          <c:x val="0.31397481508281916"/>
          <c:y val="0.90353556703720306"/>
          <c:w val="0.37205036983438411"/>
          <c:h val="5.0068107092531913E-2"/>
        </c:manualLayout>
      </c:layout>
      <c:overlay val="0"/>
      <c:txPr>
        <a:bodyPr/>
        <a:lstStyle/>
        <a:p>
          <a:pPr>
            <a:defRPr sz="90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22"/>
    </mc:Choice>
    <mc:Fallback>
      <c:style val="2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내용</c:v>
                </c:pt>
                <c:pt idx="1">
                  <c:v>내용</c:v>
                </c:pt>
                <c:pt idx="2">
                  <c:v>내용</c:v>
                </c:pt>
                <c:pt idx="3">
                  <c:v>내용</c:v>
                </c:pt>
                <c:pt idx="4">
                  <c:v>내용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25</c:v>
                </c:pt>
                <c:pt idx="2">
                  <c:v>36</c:v>
                </c:pt>
                <c:pt idx="3">
                  <c:v>14</c:v>
                </c:pt>
                <c:pt idx="4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52-403F-9FEC-94BC6BEED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</c:plotArea>
    <c:legend>
      <c:legendPos val="b"/>
      <c:layout>
        <c:manualLayout>
          <c:xMode val="edge"/>
          <c:yMode val="edge"/>
          <c:x val="0.31397481508281933"/>
          <c:y val="0.90353556703720295"/>
          <c:w val="0.37205036983438422"/>
          <c:h val="5.0068107092531913E-2"/>
        </c:manualLayout>
      </c:layout>
      <c:overlay val="0"/>
      <c:txPr>
        <a:bodyPr/>
        <a:lstStyle/>
        <a:p>
          <a:pPr>
            <a:defRPr sz="90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207F23D9-DF40-4811-9C78-A2E2A32398DD}" type="datetimeFigureOut">
              <a:rPr lang="ko-KR" altLang="en-US" smtClean="0"/>
              <a:pPr/>
              <a:t>2025-12-04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4DD6E7B0-61C4-474B-96F1-99E4547EAD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5996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F3AF6795-A612-454E-AF7A-9192B1BEBB13}" type="datetimeFigureOut">
              <a:rPr lang="ko-KR" altLang="en-US" smtClean="0"/>
              <a:pPr/>
              <a:t>2025-12-04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A0A51D67-0C14-4576-BCC5-A508196B7BB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30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20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287A2-F834-34FC-0CB9-9C3436B78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420355-B518-508E-1E89-0D5DAB693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647095-6496-77F4-17A6-AB08F52B0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3FA35D-E9A9-55EC-6189-CACB8F97AD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478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493CA-4677-1B41-B115-7A7C0A1A1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FC9C6-C5BE-6A3B-EF01-2D1C505C5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82C056-BC86-1273-81A4-58A9D37FC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20C495-ECE2-225B-303D-B32A48AC9E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386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F98D8-04EA-59E8-16CF-828638ACE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FE7936-CE52-D650-54BE-C56F3871F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67CC0-80FC-DFF1-CE5A-780E1D1B4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111014-C8DC-6EE2-2F8F-B1F39077ED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106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F5E07-0E73-D82D-6BB2-6F69FABAF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0FB131-8BEF-7730-8194-70FC90380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12096B-205E-031E-7BFB-9FC035E46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821E08-32F6-D48B-5E87-B6E9134C1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00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CFB4D-8B93-7AF9-5B13-56E899249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1104F6-2E68-3106-BD1D-EBF92A433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85C761-5194-872A-18C7-6F6D13266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5A7EAA-CE54-E309-F2A1-AB96393008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406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913CF-D59A-DA80-A886-8B7F35913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698692-40BE-9ECD-80A3-64E37A1BD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7E831A-7CD4-6F2C-34CB-A4FF86285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4C653F-5355-674D-F537-10DF545DDC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783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CC67-1658-E7FE-CCCD-70DE2A426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926EFF-5093-6802-C0B2-5641E84DF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8A2873-2512-2627-A0F2-44B47D25B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DB487C-1BB7-F737-5602-6CDDF83C25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011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FF4A5-9879-E1C9-246E-C215CB6AC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6B45EB-2823-17EF-F81C-74BB55F2D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677DC3-C128-48FB-7A3F-2136989C6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F1CB4F-3178-C64A-2C1A-64644BDA5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164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20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20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20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20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hangeul.naver.com/font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hangeul.naver.com/font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부제목 2"/>
          <p:cNvSpPr txBox="1">
            <a:spLocks/>
          </p:cNvSpPr>
          <p:nvPr userDrawn="1"/>
        </p:nvSpPr>
        <p:spPr>
          <a:xfrm>
            <a:off x="264463" y="6387291"/>
            <a:ext cx="3204878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이 문서는 나눔글꼴로 작성되었습니다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800" u="sng" spc="-20" dirty="0">
                <a:solidFill>
                  <a:srgbClr val="4495D2"/>
                </a:solidFill>
                <a:latin typeface="나눔고딕" pitchFamily="50" charset="-127"/>
                <a:ea typeface="나눔고딕" pitchFamily="50" charset="-127"/>
                <a:hlinkClick r:id="rId2"/>
              </a:rPr>
              <a:t>설치하기</a:t>
            </a:r>
            <a:endParaRPr lang="ko-KR" altLang="en-US" sz="800" u="sng" spc="-2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364803" y="3989119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364803" y="4299115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>
            <a:off x="364803" y="4611730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364803" y="4923517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 descr="cosmetic2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672671" y="6410326"/>
            <a:ext cx="1171292" cy="1762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FD00-3F21-42CF-9EF5-8F6D81CE3AFD}" type="datetimeFigureOut">
              <a:rPr lang="ko-KR" altLang="en-US" smtClean="0"/>
              <a:pPr/>
              <a:t>2025-12-04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cosmetic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910512" y="6434137"/>
            <a:ext cx="900000" cy="13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364803" y="3989119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 userDrawn="1"/>
        </p:nvCxnSpPr>
        <p:spPr>
          <a:xfrm>
            <a:off x="364803" y="4299115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364803" y="4611730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364803" y="4923517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cosmetic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672671" y="6410326"/>
            <a:ext cx="1171292" cy="176212"/>
          </a:xfrm>
          <a:prstGeom prst="rect">
            <a:avLst/>
          </a:prstGeom>
        </p:spPr>
      </p:pic>
      <p:sp>
        <p:nvSpPr>
          <p:cNvPr id="18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312059" y="246743"/>
            <a:ext cx="8338457" cy="1851478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5400" b="1" spc="-250" baseline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/>
              <a:t>제목을 입력하세요</a:t>
            </a:r>
            <a:endParaRPr lang="en-US" altLang="ko-KR" dirty="0"/>
          </a:p>
          <a:p>
            <a:pPr lvl="0"/>
            <a:endParaRPr lang="ko-KR" altLang="en-US" dirty="0"/>
          </a:p>
        </p:txBody>
      </p:sp>
      <p:sp>
        <p:nvSpPr>
          <p:cNvPr id="21" name="제목 1"/>
          <p:cNvSpPr>
            <a:spLocks noGrp="1"/>
          </p:cNvSpPr>
          <p:nvPr>
            <p:ph type="title"/>
          </p:nvPr>
        </p:nvSpPr>
        <p:spPr>
          <a:xfrm>
            <a:off x="268519" y="4005064"/>
            <a:ext cx="8418281" cy="304826"/>
          </a:xfrm>
        </p:spPr>
        <p:txBody>
          <a:bodyPr anchor="t">
            <a:normAutofit/>
          </a:bodyPr>
          <a:lstStyle>
            <a:lvl1pPr algn="l">
              <a:buFont typeface="Wingdings" pitchFamily="2" charset="2"/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부제목 2"/>
          <p:cNvSpPr txBox="1">
            <a:spLocks/>
          </p:cNvSpPr>
          <p:nvPr userDrawn="1"/>
        </p:nvSpPr>
        <p:spPr>
          <a:xfrm>
            <a:off x="264463" y="6387291"/>
            <a:ext cx="3204878" cy="456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이 문서는 나눔글꼴로 작성되었습니다</a:t>
            </a:r>
            <a:r>
              <a:rPr lang="en-US" altLang="ko-KR" sz="800" spc="-20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800" u="sng" spc="-20" dirty="0">
                <a:solidFill>
                  <a:srgbClr val="4495D2"/>
                </a:solidFill>
                <a:latin typeface="나눔고딕" pitchFamily="50" charset="-127"/>
                <a:ea typeface="나눔고딕" pitchFamily="50" charset="-127"/>
                <a:hlinkClick r:id="rId3"/>
              </a:rPr>
              <a:t>설치하기</a:t>
            </a:r>
            <a:endParaRPr lang="ko-KR" altLang="en-US" sz="800" u="sng" spc="-20" dirty="0">
              <a:solidFill>
                <a:srgbClr val="4495D2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FD00-3F21-42CF-9EF5-8F6D81CE3AFD}" type="datetimeFigureOut">
              <a:rPr lang="ko-KR" altLang="en-US" smtClean="0"/>
              <a:pPr/>
              <a:t>2025-12-04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cosmetic2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910512" y="6434137"/>
            <a:ext cx="900000" cy="135398"/>
          </a:xfrm>
          <a:prstGeom prst="rect">
            <a:avLst/>
          </a:prstGeom>
        </p:spPr>
      </p:pic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368300" y="571500"/>
            <a:ext cx="8394700" cy="846138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내용 개체 틀 2"/>
          <p:cNvSpPr>
            <a:spLocks noGrp="1"/>
          </p:cNvSpPr>
          <p:nvPr>
            <p:ph idx="1" hasCustomPrompt="1"/>
          </p:nvPr>
        </p:nvSpPr>
        <p:spPr>
          <a:xfrm>
            <a:off x="368300" y="1574801"/>
            <a:ext cx="1905000" cy="317499"/>
          </a:xfrm>
        </p:spPr>
        <p:txBody>
          <a:bodyPr>
            <a:normAutofit/>
          </a:bodyPr>
          <a:lstStyle>
            <a:lvl1pPr>
              <a:buFontTx/>
              <a:buNone/>
              <a:defRPr sz="1200" b="1">
                <a:solidFill>
                  <a:srgbClr val="3D3C3E"/>
                </a:solidFill>
              </a:defRPr>
            </a:lvl1pPr>
            <a:lvl2pPr>
              <a:buFontTx/>
              <a:buNone/>
              <a:defRPr sz="1200"/>
            </a:lvl2pPr>
            <a:lvl3pPr>
              <a:buFontTx/>
              <a:buNone/>
              <a:defRPr sz="1200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</a:lstStyle>
          <a:p>
            <a:pPr lvl="0"/>
            <a:r>
              <a:rPr lang="ko-KR" altLang="en-US"/>
              <a:t>내용제목</a:t>
            </a:r>
          </a:p>
        </p:txBody>
      </p:sp>
      <p:sp>
        <p:nvSpPr>
          <p:cNvPr id="15" name="내용 개체 틀 2"/>
          <p:cNvSpPr>
            <a:spLocks noGrp="1"/>
          </p:cNvSpPr>
          <p:nvPr>
            <p:ph idx="13" hasCustomPrompt="1"/>
          </p:nvPr>
        </p:nvSpPr>
        <p:spPr>
          <a:xfrm>
            <a:off x="2336800" y="1574801"/>
            <a:ext cx="6426200" cy="330199"/>
          </a:xfrm>
        </p:spPr>
        <p:txBody>
          <a:bodyPr>
            <a:normAutofit/>
          </a:bodyPr>
          <a:lstStyle>
            <a:lvl1pPr>
              <a:buNone/>
              <a:defRPr sz="1200" b="1" baseline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내용을 입력하십시오</a:t>
            </a:r>
            <a:r>
              <a:rPr lang="en-US" altLang="ko-KR"/>
              <a:t>.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FD00-3F21-42CF-9EF5-8F6D81CE3AFD}" type="datetimeFigureOut">
              <a:rPr lang="ko-KR" altLang="en-US" smtClean="0"/>
              <a:pPr/>
              <a:t>2025-12-04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8761FD00-3F21-42CF-9EF5-8F6D81CE3AFD}" type="datetimeFigureOut">
              <a:rPr lang="ko-KR" altLang="en-US" smtClean="0"/>
              <a:pPr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  <a:lvl2pPr>
              <a:defRPr>
                <a:latin typeface="나눔고딕" pitchFamily="50" charset="-127"/>
                <a:ea typeface="나눔고딕" pitchFamily="50" charset="-127"/>
              </a:defRPr>
            </a:lvl2pPr>
            <a:lvl3pPr>
              <a:defRPr>
                <a:latin typeface="나눔고딕" pitchFamily="50" charset="-127"/>
                <a:ea typeface="나눔고딕" pitchFamily="50" charset="-127"/>
              </a:defRPr>
            </a:lvl3pPr>
            <a:lvl4pPr>
              <a:defRPr>
                <a:latin typeface="나눔고딕" pitchFamily="50" charset="-127"/>
                <a:ea typeface="나눔고딕" pitchFamily="50" charset="-127"/>
              </a:defRPr>
            </a:lvl4pPr>
            <a:lvl5pPr>
              <a:defRPr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8761FD00-3F21-42CF-9EF5-8F6D81CE3AFD}" type="datetimeFigureOut">
              <a:rPr lang="ko-KR" altLang="en-US" smtClean="0"/>
              <a:pPr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8761FD00-3F21-42CF-9EF5-8F6D81CE3AFD}" type="datetimeFigureOut">
              <a:rPr lang="ko-KR" altLang="en-US" smtClean="0"/>
              <a:pPr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674" r:id="rId3"/>
    <p:sldLayoutId id="2147483673" r:id="rId4"/>
    <p:sldLayoutId id="2147483676" r:id="rId5"/>
    <p:sldLayoutId id="2147483661" r:id="rId6"/>
    <p:sldLayoutId id="2147483662" r:id="rId7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yeongwonHam/R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hart" Target="../charts/char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31054" y="253649"/>
            <a:ext cx="7772400" cy="1969017"/>
          </a:xfrm>
        </p:spPr>
        <p:txBody>
          <a:bodyPr anchor="t">
            <a:normAutofit/>
          </a:bodyPr>
          <a:lstStyle/>
          <a:p>
            <a:pPr algn="l"/>
            <a:r>
              <a:rPr lang="en-US" altLang="ko-KR" sz="5400" b="1" spc="-2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SLAM</a:t>
            </a:r>
            <a:r>
              <a:rPr lang="ko-KR" altLang="en-US" sz="5400" b="1" spc="-2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을 위한</a:t>
            </a:r>
            <a:br>
              <a:rPr lang="en-US" altLang="ko-KR" sz="5400" b="1" spc="-2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sz="5400" b="1" spc="-250" dirty="0">
                <a:solidFill>
                  <a:schemeClr val="accent4">
                    <a:lumMod val="50000"/>
                  </a:schemeClr>
                </a:solidFill>
              </a:rPr>
              <a:t>Mapping</a:t>
            </a:r>
            <a:r>
              <a:rPr lang="ko-KR" altLang="en-US" sz="5400" b="1" spc="-250" dirty="0">
                <a:solidFill>
                  <a:schemeClr val="accent4">
                    <a:lumMod val="50000"/>
                  </a:schemeClr>
                </a:solidFill>
              </a:rPr>
              <a:t> 효율 최적화</a:t>
            </a:r>
            <a:endParaRPr lang="ko-KR" altLang="en-US" sz="5400" b="1" spc="-2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60715" y="3948830"/>
            <a:ext cx="2778320" cy="1752600"/>
          </a:xfrm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2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2025.12.05.</a:t>
            </a:r>
          </a:p>
          <a:p>
            <a:pPr algn="l">
              <a:lnSpc>
                <a:spcPct val="150000"/>
              </a:lnSpc>
            </a:pPr>
            <a:r>
              <a:rPr lang="en-US" altLang="ko-KR" sz="12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120250323 </a:t>
            </a:r>
            <a:r>
              <a:rPr lang="ko-KR" altLang="en-US" sz="1200" b="1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남규범</a:t>
            </a:r>
            <a:endParaRPr lang="en-US" altLang="ko-KR" sz="12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b="1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120250654</a:t>
            </a:r>
            <a:r>
              <a:rPr lang="ko-KR" altLang="en-US" sz="1200" b="1" spc="-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함형원</a:t>
            </a:r>
            <a:endParaRPr lang="en-US" altLang="ko-KR" sz="12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b="1" spc="-5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https://github.com/HyeongwonHam/RL</a:t>
            </a:r>
            <a:endParaRPr lang="en-US" altLang="ko-KR" sz="12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US" altLang="ko-KR" sz="1200" b="1" spc="-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364803" y="3989119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364803" y="4299115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364803" y="4611730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64803" y="4923517"/>
            <a:ext cx="1592585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부제목 2"/>
          <p:cNvSpPr txBox="1">
            <a:spLocks/>
          </p:cNvSpPr>
          <p:nvPr/>
        </p:nvSpPr>
        <p:spPr>
          <a:xfrm>
            <a:off x="255952" y="1765785"/>
            <a:ext cx="5173304" cy="4714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33375" indent="-333375">
              <a:lnSpc>
                <a:spcPct val="175000"/>
              </a:lnSpc>
              <a:buFont typeface="+mj-lt"/>
              <a:buAutoNum type="arabicPeriod"/>
            </a:pPr>
            <a:r>
              <a:rPr lang="ko-KR" altLang="en-US" sz="1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프로젝트 주제 및 목표</a:t>
            </a: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333375" indent="-333375">
              <a:lnSpc>
                <a:spcPct val="175000"/>
              </a:lnSpc>
              <a:buFont typeface="+mj-lt"/>
              <a:buAutoNum type="arabicPeriod"/>
            </a:pPr>
            <a:r>
              <a:rPr lang="ko-KR" altLang="en-US" sz="1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환경 설명</a:t>
            </a: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333375" indent="-333375">
              <a:lnSpc>
                <a:spcPct val="175000"/>
              </a:lnSpc>
              <a:buFont typeface="+mj-lt"/>
              <a:buAutoNum type="arabicPeriod"/>
            </a:pPr>
            <a:r>
              <a:rPr lang="ko-KR" altLang="en-US" sz="1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설계 설명</a:t>
            </a: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333375" indent="-333375">
              <a:lnSpc>
                <a:spcPct val="175000"/>
              </a:lnSpc>
              <a:buFont typeface="+mj-lt"/>
              <a:buAutoNum type="arabicPeriod"/>
            </a:pPr>
            <a:r>
              <a:rPr lang="ko-KR" altLang="en-US" sz="1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알고리즘 설명</a:t>
            </a: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333375" indent="-333375">
              <a:lnSpc>
                <a:spcPct val="175000"/>
              </a:lnSpc>
              <a:buFont typeface="+mj-lt"/>
              <a:buAutoNum type="arabicPeriod"/>
            </a:pPr>
            <a:r>
              <a:rPr lang="ko-KR" altLang="en-US" sz="1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실험 환경</a:t>
            </a: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333375" indent="-333375">
              <a:lnSpc>
                <a:spcPct val="175000"/>
              </a:lnSpc>
              <a:buFont typeface="+mj-lt"/>
              <a:buAutoNum type="arabicPeriod"/>
            </a:pPr>
            <a:r>
              <a:rPr lang="ko-KR" altLang="en-US" sz="1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실험 결과</a:t>
            </a: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333375" indent="-333375">
              <a:lnSpc>
                <a:spcPct val="175000"/>
              </a:lnSpc>
              <a:buFont typeface="+mj-lt"/>
              <a:buAutoNum type="arabicPeriod"/>
            </a:pPr>
            <a:r>
              <a:rPr lang="ko-KR" altLang="en-US" sz="16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토의 및 결론</a:t>
            </a:r>
            <a:endParaRPr lang="en-US" altLang="ko-KR" sz="1600" b="1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 flipV="1">
            <a:off x="366713" y="2279494"/>
            <a:ext cx="2481132" cy="2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V="1">
            <a:off x="364474" y="3131226"/>
            <a:ext cx="2481132" cy="2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V="1">
            <a:off x="364474" y="3557092"/>
            <a:ext cx="2481132" cy="2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 flipV="1">
            <a:off x="364474" y="3982958"/>
            <a:ext cx="2481132" cy="2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V="1">
            <a:off x="364474" y="2705360"/>
            <a:ext cx="2481132" cy="2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V="1">
            <a:off x="366713" y="1851983"/>
            <a:ext cx="2481132" cy="2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제목 11"/>
          <p:cNvSpPr>
            <a:spLocks noGrp="1"/>
          </p:cNvSpPr>
          <p:nvPr>
            <p:ph type="title"/>
          </p:nvPr>
        </p:nvSpPr>
        <p:spPr>
          <a:xfrm>
            <a:off x="243848" y="152400"/>
            <a:ext cx="8531851" cy="884238"/>
          </a:xfrm>
        </p:spPr>
        <p:txBody>
          <a:bodyPr/>
          <a:lstStyle/>
          <a:p>
            <a:pPr algn="l"/>
            <a:r>
              <a:rPr lang="ko-KR" altLang="en-US" sz="2800" b="1">
                <a:solidFill>
                  <a:srgbClr val="1D314E"/>
                </a:solidFill>
              </a:rPr>
              <a:t>목차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D9252C4-464A-D3F3-A825-F493F6420392}"/>
              </a:ext>
            </a:extLst>
          </p:cNvPr>
          <p:cNvCxnSpPr/>
          <p:nvPr/>
        </p:nvCxnSpPr>
        <p:spPr>
          <a:xfrm flipV="1">
            <a:off x="361472" y="4408824"/>
            <a:ext cx="2481132" cy="2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프로젝트 주제 및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3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8470547" cy="2550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ko-KR" altLang="en-US" sz="16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주제</a:t>
            </a:r>
            <a:endParaRPr lang="en-US" altLang="ko-KR" sz="1600" b="1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Font typeface="Arial" pitchFamily="34" charset="0"/>
              <a:buNone/>
            </a:pPr>
            <a:endParaRPr lang="en-US" altLang="ko-KR" sz="1200" b="1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SLAM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을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위한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Mapping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효율 최적화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목표</a:t>
            </a: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3D3C3E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3D3C3E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로봇이 새로운 환경에서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SLAM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을 수행할 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효율적으로 지도를 작성할 수 있는 경로 탐색 정책을 강화학습으로 학습한다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기존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PPO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알고리즘의 한계인 부분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관측성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문제를 해결하기 위해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History-PPO, Recurrent-PPO, Customized-PPO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를 구현하고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성능을 분석한다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3D3C3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D3C3E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  <a:p>
            <a:pPr marL="0" indent="0">
              <a:buNone/>
            </a:pPr>
            <a:endParaRPr lang="ko-KR" altLang="en-US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5C906402-2006-A897-6028-C3C658ADFED5}"/>
              </a:ext>
            </a:extLst>
          </p:cNvPr>
          <p:cNvSpPr txBox="1">
            <a:spLocks/>
          </p:cNvSpPr>
          <p:nvPr/>
        </p:nvSpPr>
        <p:spPr>
          <a:xfrm>
            <a:off x="256544" y="2906552"/>
            <a:ext cx="8470547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ko-KR" altLang="en-US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7032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B3000-89B3-338D-8F02-4A6CD4C7F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F9D7770-6634-90E7-AB6E-C6DABA169EF5}"/>
              </a:ext>
            </a:extLst>
          </p:cNvPr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>
            <a:extLst>
              <a:ext uri="{FF2B5EF4-FFF2-40B4-BE49-F238E27FC236}">
                <a16:creationId xmlns:a16="http://schemas.microsoft.com/office/drawing/2014/main" id="{E7E135C7-F1F3-A7CA-3039-028245F3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문제 정의 및 환경 구성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F4804-6173-DAC9-B4BB-F98729C9AA1B}"/>
              </a:ext>
            </a:extLst>
          </p:cNvPr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4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F4AC8FB-40A6-80DE-652C-33E1E92273D7}"/>
              </a:ext>
            </a:extLst>
          </p:cNvPr>
          <p:cNvSpPr txBox="1">
            <a:spLocks/>
          </p:cNvSpPr>
          <p:nvPr/>
        </p:nvSpPr>
        <p:spPr>
          <a:xfrm>
            <a:off x="259795" y="1631109"/>
            <a:ext cx="8470547" cy="4787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6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State Space</a:t>
            </a:r>
          </a:p>
          <a:p>
            <a:pPr marL="0" indent="0">
              <a:buFont typeface="Arial" pitchFamily="34" charset="0"/>
              <a:buNone/>
            </a:pPr>
            <a:endParaRPr lang="en-US" altLang="ko-KR" sz="1200" b="1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에이전트의 상태는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38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차원의 연속적인 값으로 정의됨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LiDAR(36):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에이전트 중심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360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도 방향의 거리 정보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최대 거리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4).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정규화되어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0~1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로 입력됨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이전 행동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(2):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이전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time step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의 선속도와 각속도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급격한 변화를 방지하고 관성을 반영함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6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Action Space</a:t>
            </a:r>
          </a:p>
          <a:p>
            <a:pPr marL="0" indent="0">
              <a:buNone/>
            </a:pPr>
            <a:endParaRPr lang="en-US" altLang="ko-KR" sz="1200" b="1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에이전트의 행동은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차원의 연속적인 값으로 정의됨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선속도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-1~1(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최대 속도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0.8 *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그리드 크기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각속도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-1~1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266ECD2-48EF-2C89-AA9D-3893B870D3BD}"/>
              </a:ext>
            </a:extLst>
          </p:cNvPr>
          <p:cNvSpPr txBox="1">
            <a:spLocks/>
          </p:cNvSpPr>
          <p:nvPr/>
        </p:nvSpPr>
        <p:spPr>
          <a:xfrm>
            <a:off x="259795" y="2276872"/>
            <a:ext cx="8470547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125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6D6C-6D0D-A3CD-07CD-640A207BA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815D511-9813-2B1B-A799-505F684CFA4F}"/>
              </a:ext>
            </a:extLst>
          </p:cNvPr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>
            <a:extLst>
              <a:ext uri="{FF2B5EF4-FFF2-40B4-BE49-F238E27FC236}">
                <a16:creationId xmlns:a16="http://schemas.microsoft.com/office/drawing/2014/main" id="{40F92F64-90AB-8D8B-FA8F-63352A7D1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문제 정의 및 환경 구성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3DF51F-1D10-61E4-573B-ECB6CD9DDF49}"/>
              </a:ext>
            </a:extLst>
          </p:cNvPr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5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13CB75A4-8684-2B4D-66CB-292DF23A48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795" y="1631109"/>
                <a:ext cx="8470547" cy="47876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:r>
                  <a:rPr lang="en-US" altLang="ko-KR" sz="1600" b="1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Reward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altLang="ko-KR" sz="1200" b="1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탐사 효율과 안정성을 달성하기 위해 다음과 같은 보상을 설계함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</a:t>
                </a:r>
              </a:p>
              <a:p>
                <a:pPr marL="0" indent="0">
                  <a:buNone/>
                </a:pPr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𝑡𝑜𝑡𝑎𝑙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rgbClr val="3D3C3E"/>
                          </a:solidFill>
                          <a:latin typeface="Cambria Math" panose="02040503050406030204" pitchFamily="18" charset="0"/>
                          <a:ea typeface="나눔고딕" pitchFamily="50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𝑚𝑎𝑝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rgbClr val="3D3C3E"/>
                          </a:solidFill>
                          <a:latin typeface="Cambria Math" panose="02040503050406030204" pitchFamily="18" charset="0"/>
                          <a:ea typeface="나눔고딕" pitchFamily="50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𝑓𝑟𝑜𝑛𝑡𝑖𝑒𝑟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rgbClr val="3D3C3E"/>
                          </a:solidFill>
                          <a:latin typeface="Cambria Math" panose="02040503050406030204" pitchFamily="18" charset="0"/>
                          <a:ea typeface="나눔고딕" pitchFamily="50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𝑚𝑜𝑣𝑒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rgbClr val="3D3C3E"/>
                          </a:solidFill>
                          <a:latin typeface="Cambria Math" panose="02040503050406030204" pitchFamily="18" charset="0"/>
                          <a:ea typeface="나눔고딕" pitchFamily="50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𝑠𝑝𝑖𝑛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rgbClr val="3D3C3E"/>
                          </a:solidFill>
                          <a:latin typeface="Cambria Math" panose="02040503050406030204" pitchFamily="18" charset="0"/>
                          <a:ea typeface="나눔고딕" pitchFamily="50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𝑡𝑖𝑚𝑒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rgbClr val="3D3C3E"/>
                          </a:solidFill>
                          <a:latin typeface="Cambria Math" panose="02040503050406030204" pitchFamily="18" charset="0"/>
                          <a:ea typeface="나눔고딕" pitchFamily="50" charset="-127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rgbClr val="3D3C3E"/>
                              </a:solidFill>
                              <a:latin typeface="Cambria Math" panose="02040503050406030204" pitchFamily="18" charset="0"/>
                              <a:ea typeface="나눔고딕" pitchFamily="50" charset="-127"/>
                            </a:rPr>
                            <m:t>𝑐𝑜𝑙𝑙𝑖𝑠𝑖𝑜𝑛</m:t>
                          </m:r>
                        </m:sub>
                      </m:sSub>
                    </m:oMath>
                  </m:oMathPara>
                </a14:m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  <m:t>𝑚𝑎𝑝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: 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새롭게 탐사한 그리드에 비례하여 보상을 부여함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 (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새로운 그리드 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* 0.3)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</m:ctrlPr>
                      </m:sSubPr>
                      <m:e>
                        <m:r>
                          <a:rPr lang="en-US" altLang="ko-KR" sz="1200" i="1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  <m:t>𝑓𝑟𝑜𝑛𝑡𝑖𝑒𝑟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: </a:t>
                </a:r>
                <a:r>
                  <a:rPr lang="ko-KR" altLang="en-US" sz="1200" dirty="0" err="1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미탐사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 그리드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(frontier)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와 거리가 줄어들수록 보상을 부여하여 탐사를 유도함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</a:t>
                </a:r>
                <a:b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</a:b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                 ((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현재 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step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에서 가장 가까운 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frontier 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사이의 거리 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– 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이전 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step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에서 가장 가까운 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frontier 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사이의 거리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) * 5)</a:t>
                </a:r>
                <a:endParaRPr lang="en-US" altLang="ko-KR" sz="1200" dirty="0">
                  <a:solidFill>
                    <a:srgbClr val="FF0000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endParaRPr lang="en-US" altLang="ko-KR" sz="1200" dirty="0">
                  <a:solidFill>
                    <a:srgbClr val="FF0000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  <m:t>𝑚</m:t>
                        </m:r>
                        <m:r>
                          <a:rPr lang="en-US" altLang="ko-KR" sz="1200" b="0" i="1" smtClean="0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  <m:t>𝑜𝑣𝑒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:  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이동 거리가 미미할 경우 페널티를 부여함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 (-0.5)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  <m:t>𝑠𝑝𝑖𝑛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: 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과도한 회전 시 페널티를 부여함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 (-0.05)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  <m:t>𝑡𝑖𝑚𝑒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: 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빠른 탐사를 위한 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time step 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당 페널티를 부여함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 (-0.01)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3D3C3E"/>
                            </a:solidFill>
                            <a:latin typeface="Cambria Math" panose="02040503050406030204" pitchFamily="18" charset="0"/>
                            <a:ea typeface="나눔고딕" pitchFamily="50" charset="-127"/>
                          </a:rPr>
                          <m:t>𝑐𝑜𝑙𝑙𝑖𝑠𝑖𝑜𝑛</m:t>
                        </m:r>
                      </m:sub>
                    </m:sSub>
                  </m:oMath>
                </a14:m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: 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벽 충돌 시 페널티를 부여함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 (-1)</a:t>
                </a:r>
              </a:p>
              <a:p>
                <a:pPr marL="0" indent="0">
                  <a:buNone/>
                </a:pPr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mc:Choice>
        <mc:Fallback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13CB75A4-8684-2B4D-66CB-292DF23A4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95" y="1631109"/>
                <a:ext cx="8470547" cy="4787620"/>
              </a:xfrm>
              <a:prstGeom prst="rect">
                <a:avLst/>
              </a:prstGeom>
              <a:blipFill>
                <a:blip r:embed="rId3"/>
                <a:stretch>
                  <a:fillRect l="-432" t="-2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A3DBE0B-6C42-ADD9-3047-E5F5E874C332}"/>
              </a:ext>
            </a:extLst>
          </p:cNvPr>
          <p:cNvSpPr txBox="1">
            <a:spLocks/>
          </p:cNvSpPr>
          <p:nvPr/>
        </p:nvSpPr>
        <p:spPr>
          <a:xfrm>
            <a:off x="259795" y="2276872"/>
            <a:ext cx="8470547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9383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D4492-30D0-8FF9-1CF3-A5EB75EF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D9E3418-2721-8202-D37B-87C50F5F43DB}"/>
              </a:ext>
            </a:extLst>
          </p:cNvPr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>
            <a:extLst>
              <a:ext uri="{FF2B5EF4-FFF2-40B4-BE49-F238E27FC236}">
                <a16:creationId xmlns:a16="http://schemas.microsoft.com/office/drawing/2014/main" id="{4BF7D299-A760-EBA7-62C0-663AC5D37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</a:rPr>
              <a:t>문제 정의 및 환경 구성</a:t>
            </a:r>
            <a:endParaRPr lang="ko-KR" altLang="en-US" sz="4000" b="1" spc="-1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FA7C6-8F75-AD32-50C7-3107380536BF}"/>
              </a:ext>
            </a:extLst>
          </p:cNvPr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6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B77999C-20FA-165A-A704-946A85C6A3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795" y="1631109"/>
                <a:ext cx="8470547" cy="47876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itchFamily="34" charset="0"/>
                  <a:buNone/>
                </a:pPr>
                <a:r>
                  <a:rPr lang="en-US" altLang="ko-KR" sz="1600" b="1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Map Generation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altLang="ko-KR" sz="1200" b="1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에이전트가 고정된 지도를 외워서 학습하는 과적합을 방지하도록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,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 매 에피소드마다 새로운 미로를 생성하는 절차적 생성을 적용함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</a:t>
                </a:r>
              </a:p>
              <a:p>
                <a:pPr marL="0" indent="0">
                  <a:buNone/>
                </a:pPr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200" b="1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Recursive Backtracker</a:t>
                </a:r>
              </a:p>
              <a:p>
                <a:pPr marL="0" indent="0">
                  <a:buNone/>
                </a:pPr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처음에 모든 그리드 사이에는 벽이 존재함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Randomized DFS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를 사용하여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, 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방문하지 않은 인접 그리드를 무작위로 선택하여 벽을 제거하고 이동함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</a:t>
                </a:r>
              </a:p>
              <a:p>
                <a:pPr marL="0" indent="0">
                  <a:buNone/>
                </a:pP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더 이상 방문할 인접 그리드가 없으면 스택을 이용하여 이전 위치로 돌아가 탐색을 계속함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</a:t>
                </a:r>
              </a:p>
              <a:p>
                <a:pPr marL="0" indent="0">
                  <a:buNone/>
                </a:pP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이 과정을 통해 모든 그리드가 연결되고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, 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완전 미로가 생성됨</a:t>
                </a:r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200" b="1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Openness Factor</a:t>
                </a:r>
              </a:p>
              <a:p>
                <a:pPr marL="0" indent="0">
                  <a:buNone/>
                </a:pPr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DFS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로 생성된 미로는 막다른 길이 많고 경로가 좁아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, 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실제 자율 주행 환경과는 차이가 있음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</a:t>
                </a:r>
              </a:p>
              <a:p>
                <a:pPr marL="0" indent="0">
                  <a:buNone/>
                </a:pP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이를 보완하기 위해 개방 계수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solidFill>
                          <a:srgbClr val="3D3C3E"/>
                        </a:solidFill>
                        <a:latin typeface="Cambria Math" panose="02040503050406030204" pitchFamily="18" charset="0"/>
                        <a:ea typeface="나눔고딕" pitchFamily="50" charset="-127"/>
                      </a:rPr>
                      <m:t>𝛼</m:t>
                    </m:r>
                  </m:oMath>
                </a14:m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를 도입하여 미로의 복잡도를 조절함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</a:t>
                </a:r>
              </a:p>
              <a:p>
                <a:pPr marL="0" indent="0">
                  <a:buNone/>
                </a:pP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미로 생성 후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, </a:t>
                </a:r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남아있는 내부 벽들을 순회하며 확률 </a:t>
                </a:r>
                <a14:m>
                  <m:oMath xmlns:m="http://schemas.openxmlformats.org/officeDocument/2006/math">
                    <m:r>
                      <a:rPr lang="en-US" altLang="ko-KR" sz="1200" i="1">
                        <a:solidFill>
                          <a:srgbClr val="3D3C3E"/>
                        </a:solidFill>
                        <a:latin typeface="Cambria Math" panose="02040503050406030204" pitchFamily="18" charset="0"/>
                        <a:ea typeface="나눔고딕" pitchFamily="50" charset="-127"/>
                      </a:rPr>
                      <m:t>𝛼</m:t>
                    </m:r>
                  </m:oMath>
                </a14:m>
                <a:r>
                  <a:rPr lang="ko-KR" altLang="en-US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로 벽을 추가로 제거함</a:t>
                </a:r>
                <a:r>
                  <a:rPr lang="en-US" altLang="ko-KR" sz="1200" dirty="0">
                    <a:solidFill>
                      <a:srgbClr val="3D3C3E"/>
                    </a:solidFill>
                    <a:latin typeface="나눔고딕" pitchFamily="50" charset="-127"/>
                    <a:ea typeface="나눔고딕" pitchFamily="50" charset="-127"/>
                  </a:rPr>
                  <a:t>.</a:t>
                </a:r>
              </a:p>
              <a:p>
                <a:pPr marL="0" indent="0">
                  <a:buNone/>
                </a:pPr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  <a:p>
                <a:pPr marL="0" indent="0">
                  <a:buNone/>
                </a:pPr>
                <a:endParaRPr lang="en-US" altLang="ko-KR" sz="1200" dirty="0">
                  <a:solidFill>
                    <a:srgbClr val="3D3C3E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mc:Choice>
        <mc:Fallback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CB77999C-20FA-165A-A704-946A85C6A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95" y="1631109"/>
                <a:ext cx="8470547" cy="4787620"/>
              </a:xfrm>
              <a:prstGeom prst="rect">
                <a:avLst/>
              </a:prstGeom>
              <a:blipFill>
                <a:blip r:embed="rId3"/>
                <a:stretch>
                  <a:fillRect l="-432" t="-2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450BBB6-1BC5-0E1B-7768-B994B72F1D57}"/>
              </a:ext>
            </a:extLst>
          </p:cNvPr>
          <p:cNvSpPr txBox="1">
            <a:spLocks/>
          </p:cNvSpPr>
          <p:nvPr/>
        </p:nvSpPr>
        <p:spPr>
          <a:xfrm>
            <a:off x="259795" y="2276872"/>
            <a:ext cx="8470547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4760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F172E-D7D9-9E5F-C138-A4CF96CF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74BF819-75F7-484E-E962-F4223279DCF9}"/>
              </a:ext>
            </a:extLst>
          </p:cNvPr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>
            <a:extLst>
              <a:ext uri="{FF2B5EF4-FFF2-40B4-BE49-F238E27FC236}">
                <a16:creationId xmlns:a16="http://schemas.microsoft.com/office/drawing/2014/main" id="{ED2055F9-6013-239A-BC3D-1F30315C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알고리즘 및 신경망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C2325F-7DB5-8B25-B8A1-533D04A00ADD}"/>
              </a:ext>
            </a:extLst>
          </p:cNvPr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7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EB2E611-595C-3618-BDC1-2E5456A731AD}"/>
              </a:ext>
            </a:extLst>
          </p:cNvPr>
          <p:cNvSpPr txBox="1">
            <a:spLocks/>
          </p:cNvSpPr>
          <p:nvPr/>
        </p:nvSpPr>
        <p:spPr>
          <a:xfrm>
            <a:off x="259795" y="1631109"/>
            <a:ext cx="8470547" cy="4787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6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PPO - Baseline</a:t>
            </a:r>
          </a:p>
          <a:p>
            <a:pPr marL="0" indent="0">
              <a:buFont typeface="Arial" pitchFamily="34" charset="0"/>
              <a:buNone/>
            </a:pPr>
            <a:endParaRPr lang="en-US" altLang="ko-KR" sz="1200" b="1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Markov property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기반의 모델임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메모리가 없어 이전에 방문했던 위치를 인식하지 못하고 같은 구간을 반복하는 현상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(looping)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이 있음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신경망 구조</a:t>
            </a:r>
            <a:r>
              <a:rPr lang="en-US" altLang="ko-KR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(MLP)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Actor Network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입력층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38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(LiDAR 36 +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이전 행동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2)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은닉층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개의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fully connected layer(256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유닛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활성화 함수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Tanh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출력층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선속도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각속도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Critic Network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입력층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38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(LiDAR 36 +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이전 행동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2)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은닉층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개의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fully connected layer(256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유닛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활성화 함수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Tanh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출력층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1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(value)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ACF9AA74-4583-ED19-8473-D100302C569E}"/>
              </a:ext>
            </a:extLst>
          </p:cNvPr>
          <p:cNvSpPr txBox="1">
            <a:spLocks/>
          </p:cNvSpPr>
          <p:nvPr/>
        </p:nvSpPr>
        <p:spPr>
          <a:xfrm>
            <a:off x="259795" y="2276872"/>
            <a:ext cx="8470547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824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91A4A-1608-BE87-A754-1460A8DB2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0ECE0C3-D3C1-722B-CA2E-37ABF0243A6F}"/>
              </a:ext>
            </a:extLst>
          </p:cNvPr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>
            <a:extLst>
              <a:ext uri="{FF2B5EF4-FFF2-40B4-BE49-F238E27FC236}">
                <a16:creationId xmlns:a16="http://schemas.microsoft.com/office/drawing/2014/main" id="{0F2AA6F4-6A0D-643B-FADA-493BB98D7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알고리즘 및 신경망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18DC9-49E5-C82F-EAAD-464BC39C0256}"/>
              </a:ext>
            </a:extLst>
          </p:cNvPr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8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E6AFE8E-6393-8BF3-0FB2-F376E91DABF2}"/>
              </a:ext>
            </a:extLst>
          </p:cNvPr>
          <p:cNvSpPr txBox="1">
            <a:spLocks/>
          </p:cNvSpPr>
          <p:nvPr/>
        </p:nvSpPr>
        <p:spPr>
          <a:xfrm>
            <a:off x="259795" y="1631109"/>
            <a:ext cx="8470547" cy="4787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6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H-PPO(History-based PPO)</a:t>
            </a:r>
          </a:p>
          <a:p>
            <a:pPr marL="0" indent="0">
              <a:buFont typeface="Arial" pitchFamily="34" charset="0"/>
              <a:buNone/>
            </a:pPr>
            <a:endParaRPr lang="en-US" altLang="ko-KR" sz="1200" b="1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단일 프레임의 한계를 보완하기 위해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frame stacking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을 사용함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과거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3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개의 프레임을 통해 에이전트의 순간적인 속도와 가속도를 파악할 수 있음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신경망 구조</a:t>
            </a:r>
            <a:r>
              <a:rPr lang="en-US" altLang="ko-KR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(Expanded MLP)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Actor Network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입력층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114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(38 * 3)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은닉층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개의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fully connected layer(256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유닛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활성화 함수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Tanh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함수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출력층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Critic Network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입력층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114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은닉층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개의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fully connected layer(256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유닛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활성화 함수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Tanh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출력층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1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AD74711-278C-84FE-284D-915CBB0938AA}"/>
              </a:ext>
            </a:extLst>
          </p:cNvPr>
          <p:cNvSpPr txBox="1">
            <a:spLocks/>
          </p:cNvSpPr>
          <p:nvPr/>
        </p:nvSpPr>
        <p:spPr>
          <a:xfrm>
            <a:off x="259795" y="2276872"/>
            <a:ext cx="8470547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4235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84909-09FD-3D62-FC15-87467AE02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4A51B3E-443A-F5CE-1B46-819C43531707}"/>
              </a:ext>
            </a:extLst>
          </p:cNvPr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>
            <a:extLst>
              <a:ext uri="{FF2B5EF4-FFF2-40B4-BE49-F238E27FC236}">
                <a16:creationId xmlns:a16="http://schemas.microsoft.com/office/drawing/2014/main" id="{43A0D54A-2C35-9C64-7D56-74B82C49A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알고리즘 및 신경망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AB40E5-D567-A887-89AC-BA97E531714B}"/>
              </a:ext>
            </a:extLst>
          </p:cNvPr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9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A4B11900-7D99-8517-86A3-E82574CA83C7}"/>
              </a:ext>
            </a:extLst>
          </p:cNvPr>
          <p:cNvSpPr txBox="1">
            <a:spLocks/>
          </p:cNvSpPr>
          <p:nvPr/>
        </p:nvSpPr>
        <p:spPr>
          <a:xfrm>
            <a:off x="259795" y="1631108"/>
            <a:ext cx="8470547" cy="5226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6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R-PPO(Recurrent PPO)</a:t>
            </a:r>
          </a:p>
          <a:p>
            <a:pPr marL="0" indent="0">
              <a:buFont typeface="Arial" pitchFamily="34" charset="0"/>
              <a:buNone/>
            </a:pPr>
            <a:endParaRPr lang="en-US" altLang="ko-KR" sz="1200" b="1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RNN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인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GRU(Gated Recurrent Unit)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를 도입하여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, hidden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state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를 통해 장기 기억을 유지하고 에이전트가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context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를 기억함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학습 시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16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스텝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단위로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BPTT(Backpropagation Through Time)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을 수행함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신경망 구조</a:t>
            </a:r>
            <a:r>
              <a:rPr lang="en-US" altLang="ko-KR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(RNN)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Shared Feature Extractor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입력층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38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recurrent layer: GRU cell(38 → 256)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Actor Head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입력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GRU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의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hidden state(256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은닉층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1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개의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fully connected layer(256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유닛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 + Tanh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출력층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Critic Head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입력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GRU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의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hidden state(256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은닉층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1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개의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fully connected layer(256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유닛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 + Tanh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출력층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3C61188-152F-FB29-5549-D468204BB5F4}"/>
              </a:ext>
            </a:extLst>
          </p:cNvPr>
          <p:cNvSpPr txBox="1">
            <a:spLocks/>
          </p:cNvSpPr>
          <p:nvPr/>
        </p:nvSpPr>
        <p:spPr>
          <a:xfrm>
            <a:off x="259795" y="2276872"/>
            <a:ext cx="8470547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2719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D275E-FAB8-A390-37A9-8DB488885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EADA771C-AF68-E0DE-1256-9DF8CEF3E671}"/>
              </a:ext>
            </a:extLst>
          </p:cNvPr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>
            <a:extLst>
              <a:ext uri="{FF2B5EF4-FFF2-40B4-BE49-F238E27FC236}">
                <a16:creationId xmlns:a16="http://schemas.microsoft.com/office/drawing/2014/main" id="{953E81DB-8E44-2C61-53EA-2B004562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알고리즘 및 신경망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7F761C-CA70-25FB-2E41-E18737353232}"/>
              </a:ext>
            </a:extLst>
          </p:cNvPr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10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7DB8748-FD1D-1ADB-95EB-0C402A081084}"/>
              </a:ext>
            </a:extLst>
          </p:cNvPr>
          <p:cNvSpPr txBox="1">
            <a:spLocks/>
          </p:cNvSpPr>
          <p:nvPr/>
        </p:nvSpPr>
        <p:spPr>
          <a:xfrm>
            <a:off x="259795" y="1631109"/>
            <a:ext cx="8470547" cy="4787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ko-KR" sz="16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C-PPO(Customized PPO)</a:t>
            </a:r>
          </a:p>
          <a:p>
            <a:pPr marL="0" indent="0">
              <a:buFont typeface="Arial" pitchFamily="34" charset="0"/>
              <a:buNone/>
            </a:pPr>
            <a:endParaRPr lang="en-US" altLang="ko-KR" sz="1200" b="1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PPO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의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하이퍼파라미터와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신경망 용량을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SLAM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에 맞게 최적화함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frame stacking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을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4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개로 늘려 정보를 극대화하고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활성화 함수를 교체하여 학습 효율을 높였음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엔트로피 계수를 조정하여 탐험을 강화함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ko-KR" altLang="en-US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신경망 구조</a:t>
            </a:r>
            <a:r>
              <a:rPr lang="en-US" altLang="ko-KR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(Wide MLP + </a:t>
            </a:r>
            <a:r>
              <a:rPr lang="en-US" altLang="ko-KR" sz="1200" b="1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ReLu</a:t>
            </a:r>
            <a:r>
              <a:rPr lang="en-US" altLang="ko-KR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Actor Network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입력층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152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(38 * 4)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은닉층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개의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fully connected layer(512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유닛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활성화 함수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en-US" altLang="ko-KR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ReLu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출력층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Critic Network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입력층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152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은닉층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개의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fully connected layer(512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유닛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활성화 함수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en-US" altLang="ko-KR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ReLu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출력층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1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9458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2EE1-890B-EF08-6455-2DF30032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D9A5043-59AE-6C2C-FE98-073B6E9CE5D1}"/>
              </a:ext>
            </a:extLst>
          </p:cNvPr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>
            <a:extLst>
              <a:ext uri="{FF2B5EF4-FFF2-40B4-BE49-F238E27FC236}">
                <a16:creationId xmlns:a16="http://schemas.microsoft.com/office/drawing/2014/main" id="{2223936B-F0DA-50AE-A368-E42F43BF6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실험 설정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23B12C-754B-CA15-0CC8-9B46054A2240}"/>
              </a:ext>
            </a:extLst>
          </p:cNvPr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11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232890E-FB74-E6BB-D98F-A660F0A8E221}"/>
              </a:ext>
            </a:extLst>
          </p:cNvPr>
          <p:cNvSpPr txBox="1">
            <a:spLocks/>
          </p:cNvSpPr>
          <p:nvPr/>
        </p:nvSpPr>
        <p:spPr>
          <a:xfrm>
            <a:off x="259795" y="1631109"/>
            <a:ext cx="8470547" cy="4787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ko-KR" altLang="en-US" sz="16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실험 환경</a:t>
            </a:r>
            <a:endParaRPr lang="en-US" altLang="ko-KR" sz="1600" b="1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Font typeface="Arial" pitchFamily="34" charset="0"/>
              <a:buNone/>
            </a:pPr>
            <a:endParaRPr lang="en-US" altLang="ko-KR" sz="1200" b="1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Python </a:t>
            </a:r>
            <a:r>
              <a:rPr lang="en-US" altLang="ko-KR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Pygame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기반 시뮬레이션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신경망 구조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(MLP)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Actor Network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입력층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38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(LiDAR 36 +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이전 행동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2)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은닉층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개의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fully connected layer(256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유닛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비선형 활성화 함수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 Tanh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함수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출력층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: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차원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선속도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각속도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- Critic Network</a:t>
            </a:r>
          </a:p>
          <a:p>
            <a:pPr marL="0" indent="0">
              <a:buNone/>
            </a:pP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  - actor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와 동일한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256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유닛의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2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층 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MLP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구조</a:t>
            </a: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DB7E731-904B-15DC-525F-ABCCB3DA037F}"/>
              </a:ext>
            </a:extLst>
          </p:cNvPr>
          <p:cNvSpPr txBox="1">
            <a:spLocks/>
          </p:cNvSpPr>
          <p:nvPr/>
        </p:nvSpPr>
        <p:spPr>
          <a:xfrm>
            <a:off x="259795" y="2276872"/>
            <a:ext cx="8470547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200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9116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3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3.1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차트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차트</a:t>
            </a:r>
          </a:p>
        </p:txBody>
      </p:sp>
      <p:graphicFrame>
        <p:nvGraphicFramePr>
          <p:cNvPr id="7" name="차트 6"/>
          <p:cNvGraphicFramePr/>
          <p:nvPr/>
        </p:nvGraphicFramePr>
        <p:xfrm>
          <a:off x="2257425" y="2647950"/>
          <a:ext cx="6627679" cy="3457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259796" y="1631109"/>
            <a:ext cx="1959530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차트 예시</a:t>
            </a:r>
            <a:endParaRPr lang="en-US" altLang="ko-KR" sz="1200" b="1" dirty="0">
              <a:solidFill>
                <a:srgbClr val="3D3C3E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10" name="그림 9" descr="cosmetic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10512" y="6434137"/>
            <a:ext cx="900000" cy="135398"/>
          </a:xfrm>
          <a:prstGeom prst="rect">
            <a:avLst/>
          </a:prstGeom>
        </p:spPr>
      </p:pic>
      <p:sp>
        <p:nvSpPr>
          <p:cNvPr id="11" name="내용 개체 틀 2"/>
          <p:cNvSpPr txBox="1">
            <a:spLocks/>
          </p:cNvSpPr>
          <p:nvPr/>
        </p:nvSpPr>
        <p:spPr>
          <a:xfrm>
            <a:off x="2303749" y="1631109"/>
            <a:ext cx="6687852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삽입 </a:t>
            </a:r>
            <a:r>
              <a:rPr lang="en-US" altLang="ko-KR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차트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를 이용하여 다양한 차트형태를 구현할 수 있습니다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표를 선택한 상태에서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오른클릭을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한 뒤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데이터 편집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을 클릭하여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실제 내용과 수치를 편집해 사용할 수 있습니다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  <a:endParaRPr lang="ko-KR" altLang="en-US" sz="1200" dirty="0">
              <a:solidFill>
                <a:srgbClr val="3D3C3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12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</p:spTree>
    <p:extLst>
      <p:ext uri="{BB962C8B-B14F-4D97-AF65-F5344CB8AC3E}">
        <p14:creationId xmlns:p14="http://schemas.microsoft.com/office/powerpoint/2010/main" val="3347032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3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3.2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차트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차트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6" y="1631109"/>
            <a:ext cx="1978580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차트 예시</a:t>
            </a:r>
          </a:p>
        </p:txBody>
      </p:sp>
      <p:graphicFrame>
        <p:nvGraphicFramePr>
          <p:cNvPr id="10" name="차트 9"/>
          <p:cNvGraphicFramePr/>
          <p:nvPr/>
        </p:nvGraphicFramePr>
        <p:xfrm>
          <a:off x="2194595" y="2913137"/>
          <a:ext cx="6624736" cy="3173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그림 11" descr="cosmetic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10512" y="6434137"/>
            <a:ext cx="900000" cy="135398"/>
          </a:xfrm>
          <a:prstGeom prst="rect">
            <a:avLst/>
          </a:prstGeom>
        </p:spPr>
      </p:pic>
      <p:sp>
        <p:nvSpPr>
          <p:cNvPr id="11" name="내용 개체 틀 2"/>
          <p:cNvSpPr txBox="1">
            <a:spLocks/>
          </p:cNvSpPr>
          <p:nvPr/>
        </p:nvSpPr>
        <p:spPr>
          <a:xfrm>
            <a:off x="2303749" y="1631109"/>
            <a:ext cx="6687852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삽입 </a:t>
            </a:r>
            <a:r>
              <a:rPr lang="en-US" altLang="ko-KR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차트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를 이용하여 다양한 차트형태를 구현할 수 있습니다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표를 선택한 상태에서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오른클릭을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한 뒤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데이터 편집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을 클릭하여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실제 내용과 수치를 편집해 사용할 수 있습니다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  <a:endParaRPr lang="ko-KR" altLang="en-US" sz="1200" dirty="0">
              <a:solidFill>
                <a:srgbClr val="3D3C3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13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</p:spTree>
    <p:extLst>
      <p:ext uri="{BB962C8B-B14F-4D97-AF65-F5344CB8AC3E}">
        <p14:creationId xmlns:p14="http://schemas.microsoft.com/office/powerpoint/2010/main" val="3347032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3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3.3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차트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차트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1988105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ko-KR" altLang="en-US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차트 예시</a:t>
            </a:r>
          </a:p>
        </p:txBody>
      </p:sp>
      <p:graphicFrame>
        <p:nvGraphicFramePr>
          <p:cNvPr id="11" name="차트 10"/>
          <p:cNvGraphicFramePr/>
          <p:nvPr/>
        </p:nvGraphicFramePr>
        <p:xfrm>
          <a:off x="1885949" y="1543050"/>
          <a:ext cx="7258051" cy="5133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그림 11" descr="cosmetic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10512" y="6434137"/>
            <a:ext cx="900000" cy="135398"/>
          </a:xfrm>
          <a:prstGeom prst="rect">
            <a:avLst/>
          </a:prstGeom>
        </p:spPr>
      </p:pic>
      <p:sp>
        <p:nvSpPr>
          <p:cNvPr id="10" name="내용 개체 틀 2"/>
          <p:cNvSpPr txBox="1">
            <a:spLocks/>
          </p:cNvSpPr>
          <p:nvPr/>
        </p:nvSpPr>
        <p:spPr>
          <a:xfrm>
            <a:off x="2303749" y="1631109"/>
            <a:ext cx="6687852" cy="12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삽입 </a:t>
            </a:r>
            <a:r>
              <a:rPr lang="en-US" altLang="ko-KR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차트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를 이용하여 다양한 차트형태를 구현할 수 있습니다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표를 선택한 상태에서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오른클릭을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한 뒤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데이터 편집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을 클릭하여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실제 내용과 수치를 편집해 사용할 수 있습니다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  <a:endParaRPr lang="ko-KR" altLang="en-US" sz="1200" dirty="0">
              <a:solidFill>
                <a:srgbClr val="3D3C3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14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</p:spTree>
    <p:extLst>
      <p:ext uri="{BB962C8B-B14F-4D97-AF65-F5344CB8AC3E}">
        <p14:creationId xmlns:p14="http://schemas.microsoft.com/office/powerpoint/2010/main" val="3347032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3455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3.4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차트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1"/>
          <p:cNvSpPr>
            <a:spLocks noGrp="1"/>
          </p:cNvSpPr>
          <p:nvPr>
            <p:ph type="title"/>
          </p:nvPr>
        </p:nvSpPr>
        <p:spPr>
          <a:xfrm>
            <a:off x="256544" y="700126"/>
            <a:ext cx="6995120" cy="580926"/>
          </a:xfrm>
        </p:spPr>
        <p:txBody>
          <a:bodyPr>
            <a:noAutofit/>
          </a:bodyPr>
          <a:lstStyle/>
          <a:p>
            <a:pPr algn="l"/>
            <a:r>
              <a:rPr lang="ko-KR" altLang="en-US" sz="4000" b="1" spc="-1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차트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259795" y="1631109"/>
            <a:ext cx="2035729" cy="921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ko-KR" altLang="en-US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차트 예시</a:t>
            </a:r>
          </a:p>
        </p:txBody>
      </p:sp>
      <p:graphicFrame>
        <p:nvGraphicFramePr>
          <p:cNvPr id="10" name="차트 9"/>
          <p:cNvGraphicFramePr/>
          <p:nvPr/>
        </p:nvGraphicFramePr>
        <p:xfrm>
          <a:off x="171450" y="2350954"/>
          <a:ext cx="4587980" cy="3681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차트 11"/>
          <p:cNvGraphicFramePr/>
          <p:nvPr/>
        </p:nvGraphicFramePr>
        <p:xfrm>
          <a:off x="4380683" y="2351776"/>
          <a:ext cx="4585933" cy="3679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3" name="그림 12" descr="cosmetic2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10512" y="6434137"/>
            <a:ext cx="900000" cy="135398"/>
          </a:xfrm>
          <a:prstGeom prst="rect">
            <a:avLst/>
          </a:prstGeom>
        </p:spPr>
      </p:pic>
      <p:sp>
        <p:nvSpPr>
          <p:cNvPr id="11" name="내용 개체 틀 2"/>
          <p:cNvSpPr txBox="1">
            <a:spLocks/>
          </p:cNvSpPr>
          <p:nvPr/>
        </p:nvSpPr>
        <p:spPr>
          <a:xfrm>
            <a:off x="2303749" y="1631109"/>
            <a:ext cx="6687852" cy="1016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삽입 </a:t>
            </a:r>
            <a:r>
              <a:rPr lang="en-US" altLang="ko-KR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차트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를 이용하여 다양한 차트형태를 구현할 수 있습니다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표를 선택한 상태에서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오른클릭을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한 뒤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데이터 편집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을 클릭하여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실제 내용과 수치를 편집해 사용할 수 있습니다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  <a:endParaRPr lang="ko-KR" altLang="en-US" sz="1200" dirty="0">
              <a:solidFill>
                <a:srgbClr val="3D3C3E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15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</p:spTree>
    <p:extLst>
      <p:ext uri="{BB962C8B-B14F-4D97-AF65-F5344CB8AC3E}">
        <p14:creationId xmlns:p14="http://schemas.microsoft.com/office/powerpoint/2010/main" val="3347032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149752"/>
              </p:ext>
            </p:extLst>
          </p:nvPr>
        </p:nvGraphicFramePr>
        <p:xfrm>
          <a:off x="341524" y="2499887"/>
          <a:ext cx="8434176" cy="247957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125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1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2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spc="-30" dirty="0">
                          <a:latin typeface="나눔고딕" pitchFamily="50" charset="-127"/>
                          <a:ea typeface="나눔고딕" pitchFamily="50" charset="-127"/>
                        </a:rPr>
                        <a:t>구분 </a:t>
                      </a:r>
                      <a:endParaRPr lang="ko-KR" altLang="en-US" sz="1050" b="1" spc="-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2887" marR="92887" marT="46444" marB="46444" anchor="ctr">
                    <a:lnL w="9525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1" spc="-3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항목</a:t>
                      </a: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1" spc="-30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항목</a:t>
                      </a: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spc="-30" dirty="0">
                          <a:latin typeface="나눔고딕" pitchFamily="50" charset="-127"/>
                          <a:ea typeface="나눔고딕" pitchFamily="50" charset="-127"/>
                        </a:rPr>
                        <a:t>항목  </a:t>
                      </a:r>
                      <a:endParaRPr lang="ko-KR" altLang="en-US" sz="1050" b="1" spc="-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57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1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항목</a:t>
                      </a:r>
                    </a:p>
                  </a:txBody>
                  <a:tcPr marL="92887" marR="92887" marT="46444" marB="46444" anchor="ctr">
                    <a:lnL w="9525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0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0000"/>
                        </a:lnSpc>
                      </a:pPr>
                      <a:r>
                        <a:rPr lang="ko-KR" altLang="en-US" sz="1050" spc="-30" dirty="0">
                          <a:latin typeface="나눔고딕" pitchFamily="50" charset="-127"/>
                          <a:ea typeface="나눔고딕" pitchFamily="50" charset="-127"/>
                        </a:rPr>
                        <a:t>내용 </a:t>
                      </a:r>
                      <a:endParaRPr lang="ko-KR" altLang="en-US" sz="1050" b="0" spc="-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0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0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1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항목</a:t>
                      </a:r>
                    </a:p>
                  </a:txBody>
                  <a:tcPr marL="92887" marR="92887" marT="46444" marB="46444" anchor="ctr">
                    <a:lnL w="9525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0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0000"/>
                        </a:lnSpc>
                      </a:pPr>
                      <a:r>
                        <a:rPr lang="ko-KR" altLang="en-US" sz="1050" spc="-30" dirty="0"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  <a:endParaRPr lang="ko-KR" altLang="en-US" sz="1050" b="0" spc="-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0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6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항목</a:t>
                      </a:r>
                    </a:p>
                  </a:txBody>
                  <a:tcPr marL="92887" marR="92887" marT="46444" marB="46444" anchor="ctr">
                    <a:lnL w="9525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0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0000"/>
                        </a:lnSpc>
                      </a:pPr>
                      <a:r>
                        <a:rPr lang="ko-KR" altLang="en-US" sz="1050" spc="-30" dirty="0"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  <a:endParaRPr lang="ko-KR" altLang="en-US" sz="1050" b="0" spc="-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0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1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항목</a:t>
                      </a:r>
                    </a:p>
                  </a:txBody>
                  <a:tcPr marL="92887" marR="92887" marT="46444" marB="46444" anchor="ctr">
                    <a:lnL w="9525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0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0000"/>
                        </a:lnSpc>
                      </a:pPr>
                      <a:r>
                        <a:rPr lang="ko-KR" altLang="en-US" sz="1050" spc="-30" dirty="0"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  <a:endParaRPr lang="ko-KR" altLang="en-US" sz="1050" b="0" spc="-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0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8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항목</a:t>
                      </a:r>
                    </a:p>
                  </a:txBody>
                  <a:tcPr marL="92887" marR="92887" marT="46444" marB="46444" anchor="ctr">
                    <a:lnL w="9525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0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10000"/>
                        </a:lnSpc>
                      </a:pPr>
                      <a:r>
                        <a:rPr lang="ko-KR" altLang="en-US" sz="1050" spc="-30" dirty="0"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  <a:endParaRPr lang="ko-KR" altLang="en-US" sz="1050" b="0" spc="-3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0" spc="-3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50" b="1" spc="-30" dirty="0">
                          <a:solidFill>
                            <a:srgbClr val="0070C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총 계</a:t>
                      </a:r>
                    </a:p>
                  </a:txBody>
                  <a:tcPr marL="92887" marR="92887" marT="46444" marB="46444" anchor="ctr">
                    <a:lnL w="9525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spc="-30" dirty="0">
                          <a:solidFill>
                            <a:srgbClr val="0070C0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내용</a:t>
                      </a: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spc="-30" dirty="0">
                        <a:solidFill>
                          <a:srgbClr val="0070C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2887" marR="92887" marT="46444" marB="46444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spc="-30" dirty="0">
                        <a:solidFill>
                          <a:srgbClr val="0070C0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2887" marR="92887" marT="46444" marB="46444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63455" y="188690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5.1 </a:t>
            </a:r>
            <a:r>
              <a:rPr lang="ko-KR" altLang="en-US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표</a:t>
            </a:r>
            <a:endParaRPr lang="en-US" altLang="ko-KR" sz="800" spc="-30" dirty="0">
              <a:solidFill>
                <a:schemeClr val="tx1">
                  <a:lumMod val="95000"/>
                  <a:lumOff val="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364803" y="547859"/>
            <a:ext cx="8406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내용 개체 틀 2"/>
          <p:cNvSpPr txBox="1">
            <a:spLocks/>
          </p:cNvSpPr>
          <p:nvPr/>
        </p:nvSpPr>
        <p:spPr>
          <a:xfrm>
            <a:off x="259795" y="1631109"/>
            <a:ext cx="1835705" cy="864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ko-KR" altLang="en-US" sz="1200" b="1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표 예시</a:t>
            </a: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2303749" y="1631110"/>
            <a:ext cx="6687852" cy="778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표를 선택한 상태에서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표 도구 </a:t>
            </a:r>
            <a:r>
              <a:rPr lang="en-US" altLang="ko-KR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&gt; </a:t>
            </a: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디자인 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혹은 </a:t>
            </a:r>
            <a:r>
              <a:rPr lang="ko-KR" altLang="en-US" sz="1200" dirty="0">
                <a:solidFill>
                  <a:srgbClr val="0070C0"/>
                </a:solidFill>
                <a:latin typeface="나눔고딕" pitchFamily="50" charset="-127"/>
                <a:ea typeface="나눔고딕" pitchFamily="50" charset="-127"/>
              </a:rPr>
              <a:t>레이아웃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에서 색상 및 선을 편집할 수 있으며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,</a:t>
            </a:r>
          </a:p>
          <a:p>
            <a:pPr marL="0" indent="0">
              <a:buNone/>
            </a:pP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항목별 집행 </a:t>
            </a:r>
            <a:r>
              <a:rPr lang="ko-KR" altLang="en-US" sz="1200" dirty="0" err="1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예산표</a:t>
            </a:r>
            <a:r>
              <a:rPr lang="ko-KR" altLang="en-US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 등을 작성하기에 좋습니다</a:t>
            </a:r>
            <a:r>
              <a:rPr lang="en-US" altLang="ko-KR" sz="1200" dirty="0">
                <a:solidFill>
                  <a:srgbClr val="3D3C3E"/>
                </a:solidFill>
                <a:latin typeface="나눔고딕" pitchFamily="50" charset="-127"/>
                <a:ea typeface="나눔고딕" pitchFamily="50" charset="-127"/>
              </a:rPr>
              <a:t>.</a:t>
            </a:r>
            <a:endParaRPr lang="ko-KR" altLang="en-US" sz="1200" dirty="0">
              <a:solidFill>
                <a:srgbClr val="3D3C3E"/>
              </a:solidFill>
            </a:endParaRPr>
          </a:p>
        </p:txBody>
      </p:sp>
      <p:pic>
        <p:nvPicPr>
          <p:cNvPr id="13" name="그림 12" descr="cosmetic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10512" y="6434137"/>
            <a:ext cx="900000" cy="1353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77411" y="195231"/>
            <a:ext cx="1584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BA1376A-1BCE-4C3B-85BD-05D751D6B156}" type="slidenum">
              <a:rPr lang="en-US" altLang="ko-KR" sz="800" spc="-3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/>
              <a:t>16</a:t>
            </a:fld>
            <a:r>
              <a:rPr lang="en-US" altLang="ko-KR" sz="8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14</a:t>
            </a: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266700" y="657224"/>
            <a:ext cx="8477250" cy="665163"/>
          </a:xfrm>
        </p:spPr>
        <p:txBody>
          <a:bodyPr>
            <a:normAutofit fontScale="90000"/>
          </a:bodyPr>
          <a:lstStyle/>
          <a:p>
            <a:pPr algn="l"/>
            <a:r>
              <a:rPr lang="ko-KR" altLang="en-US" sz="4000" b="1" spc="-150">
                <a:solidFill>
                  <a:srgbClr val="1D314E"/>
                </a:solidFill>
              </a:rPr>
              <a:t>표</a:t>
            </a:r>
          </a:p>
        </p:txBody>
      </p:sp>
    </p:spTree>
    <p:extLst>
      <p:ext uri="{BB962C8B-B14F-4D97-AF65-F5344CB8AC3E}">
        <p14:creationId xmlns:p14="http://schemas.microsoft.com/office/powerpoint/2010/main" val="1945979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31054" y="2425349"/>
            <a:ext cx="3474171" cy="1041751"/>
          </a:xfrm>
        </p:spPr>
        <p:txBody>
          <a:bodyPr anchor="t">
            <a:normAutofit/>
          </a:bodyPr>
          <a:lstStyle/>
          <a:p>
            <a:pPr algn="l"/>
            <a:r>
              <a:rPr lang="ko-KR" altLang="en-US" sz="4000" b="1" spc="-2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감사합니다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39639D"/>
      </a:hlink>
      <a:folHlink>
        <a:srgbClr val="34343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3684</TotalTime>
  <Words>1258</Words>
  <Application>Microsoft Office PowerPoint</Application>
  <PresentationFormat>화면 슬라이드 쇼(4:3)</PresentationFormat>
  <Paragraphs>263</Paragraphs>
  <Slides>17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Wingdings</vt:lpstr>
      <vt:lpstr>Arial</vt:lpstr>
      <vt:lpstr>나눔고딕</vt:lpstr>
      <vt:lpstr>Cambria Math</vt:lpstr>
      <vt:lpstr>Office 테마</vt:lpstr>
      <vt:lpstr>SLAM을 위한 Mapping 효율 최적화</vt:lpstr>
      <vt:lpstr>목차</vt:lpstr>
      <vt:lpstr>프로젝트 주제 및 목표</vt:lpstr>
      <vt:lpstr>문제 정의 및 환경 구성</vt:lpstr>
      <vt:lpstr>문제 정의 및 환경 구성</vt:lpstr>
      <vt:lpstr>문제 정의 및 환경 구성</vt:lpstr>
      <vt:lpstr>알고리즘 및 신경망 구조</vt:lpstr>
      <vt:lpstr>알고리즘 및 신경망 구조</vt:lpstr>
      <vt:lpstr>알고리즘 및 신경망 구조</vt:lpstr>
      <vt:lpstr>알고리즘 및 신경망 구조</vt:lpstr>
      <vt:lpstr>실험 설정</vt:lpstr>
      <vt:lpstr>차트</vt:lpstr>
      <vt:lpstr>차트</vt:lpstr>
      <vt:lpstr>차트</vt:lpstr>
      <vt:lpstr>차트</vt:lpstr>
      <vt:lpstr>표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문서의 제목 나눔고딕B, 54pt</dc:title>
  <dc:creator>네이버 한글캠페인</dc:creator>
  <cp:lastModifiedBy>함형원</cp:lastModifiedBy>
  <cp:revision>10</cp:revision>
  <cp:lastPrinted>2011-08-28T13:13:29Z</cp:lastPrinted>
  <dcterms:created xsi:type="dcterms:W3CDTF">2011-08-24T01:05:33Z</dcterms:created>
  <dcterms:modified xsi:type="dcterms:W3CDTF">2025-12-04T03:54:27Z</dcterms:modified>
</cp:coreProperties>
</file>